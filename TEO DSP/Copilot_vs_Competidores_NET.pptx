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273680"/>
          </a:solidFill>
          <a:ln/>
        </p:spPr>
      </p:sp>
      <p:sp>
        <p:nvSpPr>
          <p:cNvPr id="3" name="Shape 1"/>
          <p:cNvSpPr/>
          <p:nvPr/>
        </p:nvSpPr>
        <p:spPr>
          <a:xfrm>
            <a:off x="9875520" y="4023360"/>
            <a:ext cx="3840480" cy="3840480"/>
          </a:xfrm>
          <a:prstGeom prst="ellipse">
            <a:avLst/>
          </a:prstGeom>
          <a:solidFill>
            <a:srgbClr val="233067"/>
          </a:solidFill>
          <a:ln/>
        </p:spPr>
      </p:sp>
      <p:pic>
        <p:nvPicPr>
          <p:cNvPr id="4" name="Image 0" descr="icon_copilot.png">    </p:cNvPr>
          <p:cNvPicPr>
            <a:picLocks noChangeAspect="1"/>
          </p:cNvPicPr>
          <p:nvPr/>
        </p:nvPicPr>
        <p:blipFill>
          <a:blip r:embed="rId1">
            <a:alphaModFix amt="85000"/>
          </a:blip>
          <a:stretch>
            <a:fillRect/>
          </a:stretch>
        </p:blipFill>
        <p:spPr>
          <a:xfrm>
            <a:off x="9646920" y="685800"/>
            <a:ext cx="1371600" cy="1371600"/>
          </a:xfrm>
          <a:prstGeom prst="rect">
            <a:avLst/>
          </a:prstGeom>
        </p:spPr>
      </p:pic>
      <p:sp>
        <p:nvSpPr>
          <p:cNvPr id="5" name="Text 2"/>
          <p:cNvSpPr/>
          <p:nvPr/>
        </p:nvSpPr>
        <p:spPr>
          <a:xfrm>
            <a:off x="822960" y="1874520"/>
            <a:ext cx="8686800" cy="365760"/>
          </a:xfrm>
          <a:prstGeom prst="rect">
            <a:avLst/>
          </a:prstGeom>
          <a:noFill/>
          <a:ln/>
        </p:spPr>
        <p:txBody>
          <a:bodyPr wrap="square" lIns="0" tIns="0" rIns="0" bIns="0" rtlCol="0" anchor="ctr"/>
          <a:lstStyle/>
          <a:p>
            <a:pPr indent="0" marL="0">
              <a:buNone/>
            </a:pPr>
            <a:r>
              <a:rPr lang="en-US" sz="1500" b="1" spc="200" kern="0" dirty="0">
                <a:solidFill>
                  <a:srgbClr val="F2A65A"/>
                </a:solidFill>
                <a:latin typeface="Calibri" pitchFamily="34" charset="0"/>
                <a:ea typeface="Calibri" pitchFamily="34" charset="-122"/>
                <a:cs typeface="Calibri" pitchFamily="34" charset="-120"/>
              </a:rPr>
              <a:t>ASISTENTES DE IA PARA DESARROLLO</a:t>
            </a:r>
            <a:endParaRPr lang="en-US" sz="1500" dirty="0"/>
          </a:p>
        </p:txBody>
      </p:sp>
      <p:sp>
        <p:nvSpPr>
          <p:cNvPr id="6" name="Text 3"/>
          <p:cNvSpPr/>
          <p:nvPr/>
        </p:nvSpPr>
        <p:spPr>
          <a:xfrm>
            <a:off x="777240" y="2286000"/>
            <a:ext cx="9601200" cy="192024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GitHub Copilot frente a sus</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competidores en el ecosistema .NET</a:t>
            </a:r>
            <a:endParaRPr lang="en-US" sz="4000" dirty="0"/>
          </a:p>
        </p:txBody>
      </p:sp>
      <p:sp>
        <p:nvSpPr>
          <p:cNvPr id="7" name="Text 4"/>
          <p:cNvSpPr/>
          <p:nvPr/>
        </p:nvSpPr>
        <p:spPr>
          <a:xfrm>
            <a:off x="822960" y="4251960"/>
            <a:ext cx="841248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Comparativa de herramientas, adopción y rendimiento en C# / Visual Studio</a:t>
            </a:r>
            <a:endParaRPr lang="en-US" sz="1600" dirty="0"/>
          </a:p>
        </p:txBody>
      </p:sp>
      <p:sp>
        <p:nvSpPr>
          <p:cNvPr id="8" name="Shape 5"/>
          <p:cNvSpPr/>
          <p:nvPr/>
        </p:nvSpPr>
        <p:spPr>
          <a:xfrm>
            <a:off x="822960" y="4892040"/>
            <a:ext cx="1097280" cy="0"/>
          </a:xfrm>
          <a:prstGeom prst="line">
            <a:avLst/>
          </a:prstGeom>
          <a:noFill/>
          <a:ln w="38100">
            <a:solidFill>
              <a:srgbClr val="F2A65A"/>
            </a:solidFill>
            <a:prstDash val="solid"/>
          </a:ln>
        </p:spPr>
      </p:sp>
      <p:sp>
        <p:nvSpPr>
          <p:cNvPr id="9" name="Text 6"/>
          <p:cNvSpPr/>
          <p:nvPr/>
        </p:nvSpPr>
        <p:spPr>
          <a:xfrm>
            <a:off x="822960" y="5029200"/>
            <a:ext cx="7315200" cy="320040"/>
          </a:xfrm>
          <a:prstGeom prst="rect">
            <a:avLst/>
          </a:prstGeom>
          <a:noFill/>
          <a:ln/>
        </p:spPr>
        <p:txBody>
          <a:bodyPr wrap="square" lIns="0" tIns="0" rIns="0" bIns="0" rtlCol="0" anchor="ctr"/>
          <a:lstStyle/>
          <a:p>
            <a:pPr indent="0" marL="0">
              <a:buNone/>
            </a:pPr>
            <a:r>
              <a:rPr lang="en-US" sz="1200" dirty="0">
                <a:solidFill>
                  <a:srgbClr val="9AA6CC"/>
                </a:solidFill>
                <a:latin typeface="Calibri" pitchFamily="34" charset="0"/>
                <a:ea typeface="Calibri" pitchFamily="34" charset="-122"/>
                <a:cs typeface="Calibri" pitchFamily="34" charset="-120"/>
              </a:rPr>
              <a:t>Exposición de 2 minutos  •  Herramientas .NET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INTRODUCCIÓN</a:t>
            </a:r>
            <a:endParaRPr lang="en-US" sz="1400" dirty="0"/>
          </a:p>
        </p:txBody>
      </p:sp>
      <p:sp>
        <p:nvSpPr>
          <p:cNvPr id="3" name="Text 1"/>
          <p:cNvSpPr/>
          <p:nvPr/>
        </p:nvSpPr>
        <p:spPr>
          <a:xfrm>
            <a:off x="640080" y="777240"/>
            <a:ext cx="1078992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¿Qué hay más allá de GitHub Copilot?</a:t>
            </a:r>
            <a:endParaRPr lang="en-US" sz="3000" dirty="0"/>
          </a:p>
        </p:txBody>
      </p:sp>
      <p:sp>
        <p:nvSpPr>
          <p:cNvPr id="4" name="Text 2"/>
          <p:cNvSpPr/>
          <p:nvPr/>
        </p:nvSpPr>
        <p:spPr>
          <a:xfrm>
            <a:off x="640080" y="1691640"/>
            <a:ext cx="10881360" cy="914400"/>
          </a:xfrm>
          <a:prstGeom prst="rect">
            <a:avLst/>
          </a:prstGeom>
          <a:noFill/>
          <a:ln/>
        </p:spPr>
        <p:txBody>
          <a:bodyPr wrap="square" lIns="0" tIns="0" rIns="0" bIns="0" rtlCol="0" anchor="ctr"/>
          <a:lstStyle/>
          <a:p>
            <a:pPr indent="0" marL="0">
              <a:lnSpc>
                <a:spcPts val="2200"/>
              </a:lnSpc>
              <a:buNone/>
            </a:pPr>
            <a:r>
              <a:rPr lang="en-US" sz="1600" dirty="0">
                <a:solidFill>
                  <a:srgbClr val="1B2340"/>
                </a:solidFill>
                <a:latin typeface="Calibri" pitchFamily="34" charset="0"/>
                <a:ea typeface="Calibri" pitchFamily="34" charset="-122"/>
                <a:cs typeface="Calibri" pitchFamily="34" charset="-120"/>
              </a:rPr>
              <a:t>Dentro del ecosistema .NET, GitHub Copilot es el líder del mercado, pero no es la única opción. Existe un grupo de alternativas —cada una con un enfoque propio— que compiten por un lugar en Visual Studio, Rider y C#.</a:t>
            </a:r>
            <a:endParaRPr lang="en-US" sz="1600" dirty="0"/>
          </a:p>
        </p:txBody>
      </p:sp>
      <p:sp>
        <p:nvSpPr>
          <p:cNvPr id="5" name="Shape 3"/>
          <p:cNvSpPr/>
          <p:nvPr/>
        </p:nvSpPr>
        <p:spPr>
          <a:xfrm>
            <a:off x="640080" y="2971800"/>
            <a:ext cx="2468880" cy="2834640"/>
          </a:xfrm>
          <a:prstGeom prst="roundRect">
            <a:avLst>
              <a:gd name="adj" fmla="val 4444"/>
            </a:avLst>
          </a:prstGeom>
          <a:solidFill>
            <a:srgbClr val="F4F6FC"/>
          </a:solidFill>
          <a:ln/>
          <a:effectLst>
            <a:outerShdw sx="100000" sy="100000" kx="0" ky="0" algn="bl" rotWithShape="0" blurRad="101600" dist="38100" dir="5400000">
              <a:srgbClr val="1E2761">
                <a:alpha val="12000"/>
              </a:srgbClr>
            </a:outerShdw>
          </a:effectLst>
        </p:spPr>
      </p:sp>
      <p:sp>
        <p:nvSpPr>
          <p:cNvPr id="6" name="Shape 4"/>
          <p:cNvSpPr/>
          <p:nvPr/>
        </p:nvSpPr>
        <p:spPr>
          <a:xfrm>
            <a:off x="1417320" y="3337560"/>
            <a:ext cx="914400" cy="914400"/>
          </a:xfrm>
          <a:prstGeom prst="ellipse">
            <a:avLst/>
          </a:prstGeom>
          <a:solidFill>
            <a:srgbClr val="1E2761"/>
          </a:solidFill>
          <a:ln/>
        </p:spPr>
      </p:sp>
      <p:pic>
        <p:nvPicPr>
          <p:cNvPr id="7" name="Image 0" descr="icon_intellicode.png">    </p:cNvPr>
          <p:cNvPicPr>
            <a:picLocks noChangeAspect="1"/>
          </p:cNvPicPr>
          <p:nvPr/>
        </p:nvPicPr>
        <p:blipFill>
          <a:blip r:embed="rId1"/>
          <a:stretch>
            <a:fillRect/>
          </a:stretch>
        </p:blipFill>
        <p:spPr>
          <a:xfrm>
            <a:off x="1581912" y="3630168"/>
            <a:ext cx="585216" cy="585216"/>
          </a:xfrm>
          <a:prstGeom prst="rect">
            <a:avLst/>
          </a:prstGeom>
        </p:spPr>
      </p:pic>
      <p:sp>
        <p:nvSpPr>
          <p:cNvPr id="8" name="Text 5"/>
          <p:cNvSpPr/>
          <p:nvPr/>
        </p:nvSpPr>
        <p:spPr>
          <a:xfrm>
            <a:off x="731520" y="4434840"/>
            <a:ext cx="2286000" cy="685800"/>
          </a:xfrm>
          <a:prstGeom prst="rect">
            <a:avLst/>
          </a:prstGeom>
          <a:noFill/>
          <a:ln/>
        </p:spPr>
        <p:txBody>
          <a:bodyPr wrap="square" lIns="0" tIns="0" rIns="0" bIns="0" rtlCol="0" anchor="ctr"/>
          <a:lstStyle/>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Visual Studio</a:t>
            </a:r>
            <a:endParaRPr lang="en-US" sz="1500" dirty="0"/>
          </a:p>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IntelliCode</a:t>
            </a:r>
            <a:endParaRPr lang="en-US" sz="1500" dirty="0"/>
          </a:p>
        </p:txBody>
      </p:sp>
      <p:sp>
        <p:nvSpPr>
          <p:cNvPr id="9" name="Text 6"/>
          <p:cNvSpPr/>
          <p:nvPr/>
        </p:nvSpPr>
        <p:spPr>
          <a:xfrm>
            <a:off x="731520" y="5212080"/>
            <a:ext cx="2286000" cy="365760"/>
          </a:xfrm>
          <a:prstGeom prst="rect">
            <a:avLst/>
          </a:prstGeom>
          <a:noFill/>
          <a:ln/>
        </p:spPr>
        <p:txBody>
          <a:bodyPr wrap="square" lIns="0" tIns="0" rIns="0" bIns="0" rtlCol="0" anchor="ctr"/>
          <a:lstStyle/>
          <a:p>
            <a:pPr algn="ctr" indent="0" marL="0">
              <a:buNone/>
            </a:pPr>
            <a:r>
              <a:rPr lang="en-US" sz="1200" dirty="0">
                <a:solidFill>
                  <a:srgbClr val="6B7690"/>
                </a:solidFill>
                <a:latin typeface="Calibri" pitchFamily="34" charset="0"/>
                <a:ea typeface="Calibri" pitchFamily="34" charset="-122"/>
                <a:cs typeface="Calibri" pitchFamily="34" charset="-120"/>
              </a:rPr>
              <a:t>Microsoft</a:t>
            </a:r>
            <a:endParaRPr lang="en-US" sz="1200" dirty="0"/>
          </a:p>
        </p:txBody>
      </p:sp>
      <p:sp>
        <p:nvSpPr>
          <p:cNvPr id="10" name="Shape 7"/>
          <p:cNvSpPr/>
          <p:nvPr/>
        </p:nvSpPr>
        <p:spPr>
          <a:xfrm>
            <a:off x="3429000" y="2971800"/>
            <a:ext cx="2468880" cy="2834640"/>
          </a:xfrm>
          <a:prstGeom prst="roundRect">
            <a:avLst>
              <a:gd name="adj" fmla="val 4444"/>
            </a:avLst>
          </a:prstGeom>
          <a:solidFill>
            <a:srgbClr val="F4F6FC"/>
          </a:solidFill>
          <a:ln/>
          <a:effectLst>
            <a:outerShdw sx="100000" sy="100000" kx="0" ky="0" algn="bl" rotWithShape="0" blurRad="101600" dist="38100" dir="5400000">
              <a:srgbClr val="1E2761">
                <a:alpha val="12000"/>
              </a:srgbClr>
            </a:outerShdw>
          </a:effectLst>
        </p:spPr>
      </p:sp>
      <p:sp>
        <p:nvSpPr>
          <p:cNvPr id="11" name="Shape 8"/>
          <p:cNvSpPr/>
          <p:nvPr/>
        </p:nvSpPr>
        <p:spPr>
          <a:xfrm>
            <a:off x="4206240" y="3337560"/>
            <a:ext cx="914400" cy="914400"/>
          </a:xfrm>
          <a:prstGeom prst="ellipse">
            <a:avLst/>
          </a:prstGeom>
          <a:solidFill>
            <a:srgbClr val="1E2761"/>
          </a:solidFill>
          <a:ln/>
        </p:spPr>
      </p:sp>
      <p:pic>
        <p:nvPicPr>
          <p:cNvPr id="12" name="Image 1" descr="icon_amazonq.png">    </p:cNvPr>
          <p:cNvPicPr>
            <a:picLocks noChangeAspect="1"/>
          </p:cNvPicPr>
          <p:nvPr/>
        </p:nvPicPr>
        <p:blipFill>
          <a:blip r:embed="rId2"/>
          <a:stretch>
            <a:fillRect/>
          </a:stretch>
        </p:blipFill>
        <p:spPr>
          <a:xfrm>
            <a:off x="4370832" y="3630168"/>
            <a:ext cx="585216" cy="585216"/>
          </a:xfrm>
          <a:prstGeom prst="rect">
            <a:avLst/>
          </a:prstGeom>
        </p:spPr>
      </p:pic>
      <p:sp>
        <p:nvSpPr>
          <p:cNvPr id="13" name="Text 9"/>
          <p:cNvSpPr/>
          <p:nvPr/>
        </p:nvSpPr>
        <p:spPr>
          <a:xfrm>
            <a:off x="3520440" y="4434840"/>
            <a:ext cx="2286000" cy="685800"/>
          </a:xfrm>
          <a:prstGeom prst="rect">
            <a:avLst/>
          </a:prstGeom>
          <a:noFill/>
          <a:ln/>
        </p:spPr>
        <p:txBody>
          <a:bodyPr wrap="square" lIns="0" tIns="0" rIns="0" bIns="0" rtlCol="0" anchor="ctr"/>
          <a:lstStyle/>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Amazon Q</a:t>
            </a:r>
            <a:endParaRPr lang="en-US" sz="1500" dirty="0"/>
          </a:p>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Developer</a:t>
            </a:r>
            <a:endParaRPr lang="en-US" sz="1500" dirty="0"/>
          </a:p>
        </p:txBody>
      </p:sp>
      <p:sp>
        <p:nvSpPr>
          <p:cNvPr id="14" name="Text 10"/>
          <p:cNvSpPr/>
          <p:nvPr/>
        </p:nvSpPr>
        <p:spPr>
          <a:xfrm>
            <a:off x="3520440" y="5212080"/>
            <a:ext cx="2286000" cy="365760"/>
          </a:xfrm>
          <a:prstGeom prst="rect">
            <a:avLst/>
          </a:prstGeom>
          <a:noFill/>
          <a:ln/>
        </p:spPr>
        <p:txBody>
          <a:bodyPr wrap="square" lIns="0" tIns="0" rIns="0" bIns="0" rtlCol="0" anchor="ctr"/>
          <a:lstStyle/>
          <a:p>
            <a:pPr algn="ctr" indent="0" marL="0">
              <a:buNone/>
            </a:pPr>
            <a:r>
              <a:rPr lang="en-US" sz="1200" dirty="0">
                <a:solidFill>
                  <a:srgbClr val="6B7690"/>
                </a:solidFill>
                <a:latin typeface="Calibri" pitchFamily="34" charset="0"/>
                <a:ea typeface="Calibri" pitchFamily="34" charset="-122"/>
                <a:cs typeface="Calibri" pitchFamily="34" charset="-120"/>
              </a:rPr>
              <a:t>AWS</a:t>
            </a:r>
            <a:endParaRPr lang="en-US" sz="1200" dirty="0"/>
          </a:p>
        </p:txBody>
      </p:sp>
      <p:sp>
        <p:nvSpPr>
          <p:cNvPr id="15" name="Shape 11"/>
          <p:cNvSpPr/>
          <p:nvPr/>
        </p:nvSpPr>
        <p:spPr>
          <a:xfrm>
            <a:off x="6217920" y="2971800"/>
            <a:ext cx="2468880" cy="2834640"/>
          </a:xfrm>
          <a:prstGeom prst="roundRect">
            <a:avLst>
              <a:gd name="adj" fmla="val 4444"/>
            </a:avLst>
          </a:prstGeom>
          <a:solidFill>
            <a:srgbClr val="F4F6FC"/>
          </a:solidFill>
          <a:ln/>
          <a:effectLst>
            <a:outerShdw sx="100000" sy="100000" kx="0" ky="0" algn="bl" rotWithShape="0" blurRad="101600" dist="38100" dir="5400000">
              <a:srgbClr val="1E2761">
                <a:alpha val="12000"/>
              </a:srgbClr>
            </a:outerShdw>
          </a:effectLst>
        </p:spPr>
      </p:sp>
      <p:sp>
        <p:nvSpPr>
          <p:cNvPr id="16" name="Shape 12"/>
          <p:cNvSpPr/>
          <p:nvPr/>
        </p:nvSpPr>
        <p:spPr>
          <a:xfrm>
            <a:off x="6995160" y="3337560"/>
            <a:ext cx="914400" cy="914400"/>
          </a:xfrm>
          <a:prstGeom prst="ellipse">
            <a:avLst/>
          </a:prstGeom>
          <a:solidFill>
            <a:srgbClr val="1E2761"/>
          </a:solidFill>
          <a:ln/>
        </p:spPr>
      </p:sp>
      <p:pic>
        <p:nvPicPr>
          <p:cNvPr id="17" name="Image 2" descr="icon_tabnine.png">    </p:cNvPr>
          <p:cNvPicPr>
            <a:picLocks noChangeAspect="1"/>
          </p:cNvPicPr>
          <p:nvPr/>
        </p:nvPicPr>
        <p:blipFill>
          <a:blip r:embed="rId3"/>
          <a:stretch>
            <a:fillRect/>
          </a:stretch>
        </p:blipFill>
        <p:spPr>
          <a:xfrm>
            <a:off x="7159752" y="3630168"/>
            <a:ext cx="585216" cy="585216"/>
          </a:xfrm>
          <a:prstGeom prst="rect">
            <a:avLst/>
          </a:prstGeom>
        </p:spPr>
      </p:pic>
      <p:sp>
        <p:nvSpPr>
          <p:cNvPr id="18" name="Text 13"/>
          <p:cNvSpPr/>
          <p:nvPr/>
        </p:nvSpPr>
        <p:spPr>
          <a:xfrm>
            <a:off x="6309360" y="4434840"/>
            <a:ext cx="2286000" cy="685800"/>
          </a:xfrm>
          <a:prstGeom prst="rect">
            <a:avLst/>
          </a:prstGeom>
          <a:noFill/>
          <a:ln/>
        </p:spPr>
        <p:txBody>
          <a:bodyPr wrap="square" lIns="0" tIns="0" rIns="0" bIns="0" rtlCol="0" anchor="ctr"/>
          <a:lstStyle/>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Tabnine</a:t>
            </a:r>
            <a:endParaRPr lang="en-US" sz="1500" dirty="0"/>
          </a:p>
        </p:txBody>
      </p:sp>
      <p:sp>
        <p:nvSpPr>
          <p:cNvPr id="19" name="Text 14"/>
          <p:cNvSpPr/>
          <p:nvPr/>
        </p:nvSpPr>
        <p:spPr>
          <a:xfrm>
            <a:off x="6309360" y="5212080"/>
            <a:ext cx="2286000" cy="365760"/>
          </a:xfrm>
          <a:prstGeom prst="rect">
            <a:avLst/>
          </a:prstGeom>
          <a:noFill/>
          <a:ln/>
        </p:spPr>
        <p:txBody>
          <a:bodyPr wrap="square" lIns="0" tIns="0" rIns="0" bIns="0" rtlCol="0" anchor="ctr"/>
          <a:lstStyle/>
          <a:p>
            <a:pPr algn="ctr" indent="0" marL="0">
              <a:buNone/>
            </a:pPr>
            <a:r>
              <a:rPr lang="en-US" sz="1200" dirty="0">
                <a:solidFill>
                  <a:srgbClr val="6B7690"/>
                </a:solidFill>
                <a:latin typeface="Calibri" pitchFamily="34" charset="0"/>
                <a:ea typeface="Calibri" pitchFamily="34" charset="-122"/>
                <a:cs typeface="Calibri" pitchFamily="34" charset="-120"/>
              </a:rPr>
              <a:t>Privacidad</a:t>
            </a:r>
            <a:endParaRPr lang="en-US" sz="1200" dirty="0"/>
          </a:p>
        </p:txBody>
      </p:sp>
      <p:sp>
        <p:nvSpPr>
          <p:cNvPr id="20" name="Shape 15"/>
          <p:cNvSpPr/>
          <p:nvPr/>
        </p:nvSpPr>
        <p:spPr>
          <a:xfrm>
            <a:off x="9006840" y="2971800"/>
            <a:ext cx="2468880" cy="2834640"/>
          </a:xfrm>
          <a:prstGeom prst="roundRect">
            <a:avLst>
              <a:gd name="adj" fmla="val 4444"/>
            </a:avLst>
          </a:prstGeom>
          <a:solidFill>
            <a:srgbClr val="F4F6FC"/>
          </a:solidFill>
          <a:ln/>
          <a:effectLst>
            <a:outerShdw sx="100000" sy="100000" kx="0" ky="0" algn="bl" rotWithShape="0" blurRad="101600" dist="38100" dir="5400000">
              <a:srgbClr val="1E2761">
                <a:alpha val="12000"/>
              </a:srgbClr>
            </a:outerShdw>
          </a:effectLst>
        </p:spPr>
      </p:sp>
      <p:sp>
        <p:nvSpPr>
          <p:cNvPr id="21" name="Shape 16"/>
          <p:cNvSpPr/>
          <p:nvPr/>
        </p:nvSpPr>
        <p:spPr>
          <a:xfrm>
            <a:off x="9784080" y="3337560"/>
            <a:ext cx="914400" cy="914400"/>
          </a:xfrm>
          <a:prstGeom prst="ellipse">
            <a:avLst/>
          </a:prstGeom>
          <a:solidFill>
            <a:srgbClr val="1E2761"/>
          </a:solidFill>
          <a:ln/>
        </p:spPr>
      </p:sp>
      <p:pic>
        <p:nvPicPr>
          <p:cNvPr id="22" name="Image 3" descr="icon_jetbrains.png">    </p:cNvPr>
          <p:cNvPicPr>
            <a:picLocks noChangeAspect="1"/>
          </p:cNvPicPr>
          <p:nvPr/>
        </p:nvPicPr>
        <p:blipFill>
          <a:blip r:embed="rId4"/>
          <a:stretch>
            <a:fillRect/>
          </a:stretch>
        </p:blipFill>
        <p:spPr>
          <a:xfrm>
            <a:off x="9948672" y="3630168"/>
            <a:ext cx="585216" cy="585216"/>
          </a:xfrm>
          <a:prstGeom prst="rect">
            <a:avLst/>
          </a:prstGeom>
        </p:spPr>
      </p:pic>
      <p:sp>
        <p:nvSpPr>
          <p:cNvPr id="23" name="Text 17"/>
          <p:cNvSpPr/>
          <p:nvPr/>
        </p:nvSpPr>
        <p:spPr>
          <a:xfrm>
            <a:off x="9098280" y="4434840"/>
            <a:ext cx="2286000" cy="685800"/>
          </a:xfrm>
          <a:prstGeom prst="rect">
            <a:avLst/>
          </a:prstGeom>
          <a:noFill/>
          <a:ln/>
        </p:spPr>
        <p:txBody>
          <a:bodyPr wrap="square" lIns="0" tIns="0" rIns="0" bIns="0" rtlCol="0" anchor="ctr"/>
          <a:lstStyle/>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JetBrains AI</a:t>
            </a:r>
            <a:endParaRPr lang="en-US" sz="1500" dirty="0"/>
          </a:p>
          <a:p>
            <a:pPr algn="ctr" indent="0" marL="0">
              <a:lnSpc>
                <a:spcPts val="1800"/>
              </a:lnSpc>
              <a:buNone/>
            </a:pPr>
            <a:r>
              <a:rPr lang="en-US" sz="1500" b="1" dirty="0">
                <a:solidFill>
                  <a:srgbClr val="1E2761"/>
                </a:solidFill>
                <a:latin typeface="Calibri" pitchFamily="34" charset="0"/>
                <a:ea typeface="Calibri" pitchFamily="34" charset="-122"/>
                <a:cs typeface="Calibri" pitchFamily="34" charset="-120"/>
              </a:rPr>
              <a:t>Assistant</a:t>
            </a:r>
            <a:endParaRPr lang="en-US" sz="1500" dirty="0"/>
          </a:p>
        </p:txBody>
      </p:sp>
      <p:sp>
        <p:nvSpPr>
          <p:cNvPr id="24" name="Text 18"/>
          <p:cNvSpPr/>
          <p:nvPr/>
        </p:nvSpPr>
        <p:spPr>
          <a:xfrm>
            <a:off x="9098280" y="5212080"/>
            <a:ext cx="2286000" cy="365760"/>
          </a:xfrm>
          <a:prstGeom prst="rect">
            <a:avLst/>
          </a:prstGeom>
          <a:noFill/>
          <a:ln/>
        </p:spPr>
        <p:txBody>
          <a:bodyPr wrap="square" lIns="0" tIns="0" rIns="0" bIns="0" rtlCol="0" anchor="ctr"/>
          <a:lstStyle/>
          <a:p>
            <a:pPr algn="ctr" indent="0" marL="0">
              <a:buNone/>
            </a:pPr>
            <a:r>
              <a:rPr lang="en-US" sz="1200" dirty="0">
                <a:solidFill>
                  <a:srgbClr val="6B7690"/>
                </a:solidFill>
                <a:latin typeface="Calibri" pitchFamily="34" charset="0"/>
                <a:ea typeface="Calibri" pitchFamily="34" charset="-122"/>
                <a:cs typeface="Calibri" pitchFamily="34" charset="-120"/>
              </a:rPr>
              <a:t>Rider / IDEs</a:t>
            </a:r>
            <a:endParaRPr lang="en-US" sz="1200" dirty="0"/>
          </a:p>
        </p:txBody>
      </p:sp>
      <p:sp>
        <p:nvSpPr>
          <p:cNvPr id="25" name="Text 19"/>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6B7690"/>
                </a:solidFill>
                <a:latin typeface="Calibri" pitchFamily="34" charset="0"/>
                <a:ea typeface="Calibri" pitchFamily="34" charset="-122"/>
                <a:cs typeface="Calibri" pitchFamily="34" charset="-120"/>
              </a:rPr>
              <a:t>1 · Introducción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EVALUACIÓN DE COMPETIDORES</a:t>
            </a:r>
            <a:endParaRPr lang="en-US" sz="1400" dirty="0"/>
          </a:p>
        </p:txBody>
      </p:sp>
      <p:sp>
        <p:nvSpPr>
          <p:cNvPr id="3" name="Text 1"/>
          <p:cNvSpPr/>
          <p:nvPr/>
        </p:nvSpPr>
        <p:spPr>
          <a:xfrm>
            <a:off x="640080" y="731520"/>
            <a:ext cx="107899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Cada herramienta, un diferencial claro</a:t>
            </a:r>
            <a:endParaRPr lang="en-US" sz="2800" dirty="0"/>
          </a:p>
        </p:txBody>
      </p:sp>
      <p:sp>
        <p:nvSpPr>
          <p:cNvPr id="4" name="Shape 2"/>
          <p:cNvSpPr/>
          <p:nvPr/>
        </p:nvSpPr>
        <p:spPr>
          <a:xfrm>
            <a:off x="640080" y="1600200"/>
            <a:ext cx="5257800" cy="2148840"/>
          </a:xfrm>
          <a:prstGeom prst="roundRect">
            <a:avLst>
              <a:gd name="adj" fmla="val 4255"/>
            </a:avLst>
          </a:prstGeom>
          <a:solidFill>
            <a:srgbClr val="F4F6FC"/>
          </a:solidFill>
          <a:ln/>
        </p:spPr>
      </p:sp>
      <p:sp>
        <p:nvSpPr>
          <p:cNvPr id="5" name="Shape 3"/>
          <p:cNvSpPr/>
          <p:nvPr/>
        </p:nvSpPr>
        <p:spPr>
          <a:xfrm>
            <a:off x="896112" y="1856232"/>
            <a:ext cx="685800" cy="685800"/>
          </a:xfrm>
          <a:prstGeom prst="ellipse">
            <a:avLst/>
          </a:prstGeom>
          <a:solidFill>
            <a:srgbClr val="1E2761"/>
          </a:solidFill>
          <a:ln/>
        </p:spPr>
      </p:sp>
      <p:pic>
        <p:nvPicPr>
          <p:cNvPr id="6" name="Image 0" descr="icon_intellicode.png">    </p:cNvPr>
          <p:cNvPicPr>
            <a:picLocks noChangeAspect="1"/>
          </p:cNvPicPr>
          <p:nvPr/>
        </p:nvPicPr>
        <p:blipFill>
          <a:blip r:embed="rId1"/>
          <a:stretch>
            <a:fillRect/>
          </a:stretch>
        </p:blipFill>
        <p:spPr>
          <a:xfrm>
            <a:off x="1065276" y="2025396"/>
            <a:ext cx="384048" cy="384048"/>
          </a:xfrm>
          <a:prstGeom prst="rect">
            <a:avLst/>
          </a:prstGeom>
        </p:spPr>
      </p:pic>
      <p:sp>
        <p:nvSpPr>
          <p:cNvPr id="7" name="Text 4"/>
          <p:cNvSpPr/>
          <p:nvPr/>
        </p:nvSpPr>
        <p:spPr>
          <a:xfrm>
            <a:off x="1783080" y="1819656"/>
            <a:ext cx="3931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Visual Studio IntelliCode</a:t>
            </a:r>
            <a:endParaRPr lang="en-US" sz="1600" dirty="0"/>
          </a:p>
        </p:txBody>
      </p:sp>
      <p:sp>
        <p:nvSpPr>
          <p:cNvPr id="8" name="Text 5"/>
          <p:cNvSpPr/>
          <p:nvPr/>
        </p:nvSpPr>
        <p:spPr>
          <a:xfrm>
            <a:off x="914400" y="2560320"/>
            <a:ext cx="4709160" cy="1097280"/>
          </a:xfrm>
          <a:prstGeom prst="rect">
            <a:avLst/>
          </a:prstGeom>
          <a:noFill/>
          <a:ln/>
        </p:spPr>
        <p:txBody>
          <a:bodyPr wrap="square" lIns="0" tIns="0" rIns="0" bIns="0" rtlCol="0" anchor="ctr"/>
          <a:lstStyle/>
          <a:p>
            <a:pPr indent="0" marL="0">
              <a:lnSpc>
                <a:spcPts val="1600"/>
              </a:lnSpc>
              <a:buNone/>
            </a:pPr>
            <a:r>
              <a:rPr lang="en-US" sz="1250" dirty="0">
                <a:solidFill>
                  <a:srgbClr val="1B2340"/>
                </a:solidFill>
                <a:latin typeface="Calibri" pitchFamily="34" charset="0"/>
                <a:ea typeface="Calibri" pitchFamily="34" charset="-122"/>
                <a:cs typeface="Calibri" pitchFamily="34" charset="-120"/>
              </a:rPr>
              <a:t>Integrado de forma nativa en Visual Studio. Autocompletado contextual basado en el propio código del proyecto, sin depender de grandes llamadas a la nube.</a:t>
            </a:r>
            <a:endParaRPr lang="en-US" sz="1250" dirty="0"/>
          </a:p>
        </p:txBody>
      </p:sp>
      <p:sp>
        <p:nvSpPr>
          <p:cNvPr id="9" name="Shape 6"/>
          <p:cNvSpPr/>
          <p:nvPr/>
        </p:nvSpPr>
        <p:spPr>
          <a:xfrm>
            <a:off x="6217920" y="1600200"/>
            <a:ext cx="5257800" cy="2148840"/>
          </a:xfrm>
          <a:prstGeom prst="roundRect">
            <a:avLst>
              <a:gd name="adj" fmla="val 4255"/>
            </a:avLst>
          </a:prstGeom>
          <a:solidFill>
            <a:srgbClr val="F4F6FC"/>
          </a:solidFill>
          <a:ln/>
        </p:spPr>
      </p:sp>
      <p:sp>
        <p:nvSpPr>
          <p:cNvPr id="10" name="Shape 7"/>
          <p:cNvSpPr/>
          <p:nvPr/>
        </p:nvSpPr>
        <p:spPr>
          <a:xfrm>
            <a:off x="6473952" y="1856232"/>
            <a:ext cx="685800" cy="685800"/>
          </a:xfrm>
          <a:prstGeom prst="ellipse">
            <a:avLst/>
          </a:prstGeom>
          <a:solidFill>
            <a:srgbClr val="1E2761"/>
          </a:solidFill>
          <a:ln/>
        </p:spPr>
      </p:sp>
      <p:pic>
        <p:nvPicPr>
          <p:cNvPr id="11" name="Image 1" descr="icon_amazonq.png">    </p:cNvPr>
          <p:cNvPicPr>
            <a:picLocks noChangeAspect="1"/>
          </p:cNvPicPr>
          <p:nvPr/>
        </p:nvPicPr>
        <p:blipFill>
          <a:blip r:embed="rId2"/>
          <a:stretch>
            <a:fillRect/>
          </a:stretch>
        </p:blipFill>
        <p:spPr>
          <a:xfrm>
            <a:off x="6643116" y="2025396"/>
            <a:ext cx="384048" cy="384048"/>
          </a:xfrm>
          <a:prstGeom prst="rect">
            <a:avLst/>
          </a:prstGeom>
        </p:spPr>
      </p:pic>
      <p:sp>
        <p:nvSpPr>
          <p:cNvPr id="12" name="Text 8"/>
          <p:cNvSpPr/>
          <p:nvPr/>
        </p:nvSpPr>
        <p:spPr>
          <a:xfrm>
            <a:off x="7360920" y="1819656"/>
            <a:ext cx="3931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Amazon Q Developer</a:t>
            </a:r>
            <a:endParaRPr lang="en-US" sz="1600" dirty="0"/>
          </a:p>
        </p:txBody>
      </p:sp>
      <p:sp>
        <p:nvSpPr>
          <p:cNvPr id="13" name="Text 9"/>
          <p:cNvSpPr/>
          <p:nvPr/>
        </p:nvSpPr>
        <p:spPr>
          <a:xfrm>
            <a:off x="6492240" y="2560320"/>
            <a:ext cx="4709160" cy="1097280"/>
          </a:xfrm>
          <a:prstGeom prst="rect">
            <a:avLst/>
          </a:prstGeom>
          <a:noFill/>
          <a:ln/>
        </p:spPr>
        <p:txBody>
          <a:bodyPr wrap="square" lIns="0" tIns="0" rIns="0" bIns="0" rtlCol="0" anchor="ctr"/>
          <a:lstStyle/>
          <a:p>
            <a:pPr indent="0" marL="0">
              <a:lnSpc>
                <a:spcPts val="1600"/>
              </a:lnSpc>
              <a:buNone/>
            </a:pPr>
            <a:r>
              <a:rPr lang="en-US" sz="1250" dirty="0">
                <a:solidFill>
                  <a:srgbClr val="1B2340"/>
                </a:solidFill>
                <a:latin typeface="Calibri" pitchFamily="34" charset="0"/>
                <a:ea typeface="Calibri" pitchFamily="34" charset="-122"/>
                <a:cs typeface="Calibri" pitchFamily="34" charset="-120"/>
              </a:rPr>
              <a:t>Ideal para proyectos alojados en AWS. Incluye escaneo de seguridad nativo y análisis de vulnerabilidades sin costo adicional.</a:t>
            </a:r>
            <a:endParaRPr lang="en-US" sz="1250" dirty="0"/>
          </a:p>
        </p:txBody>
      </p:sp>
      <p:sp>
        <p:nvSpPr>
          <p:cNvPr id="14" name="Shape 10"/>
          <p:cNvSpPr/>
          <p:nvPr/>
        </p:nvSpPr>
        <p:spPr>
          <a:xfrm>
            <a:off x="640080" y="4023360"/>
            <a:ext cx="5257800" cy="2148840"/>
          </a:xfrm>
          <a:prstGeom prst="roundRect">
            <a:avLst>
              <a:gd name="adj" fmla="val 4255"/>
            </a:avLst>
          </a:prstGeom>
          <a:solidFill>
            <a:srgbClr val="F4F6FC"/>
          </a:solidFill>
          <a:ln/>
        </p:spPr>
      </p:sp>
      <p:sp>
        <p:nvSpPr>
          <p:cNvPr id="15" name="Shape 11"/>
          <p:cNvSpPr/>
          <p:nvPr/>
        </p:nvSpPr>
        <p:spPr>
          <a:xfrm>
            <a:off x="896112" y="4279392"/>
            <a:ext cx="685800" cy="685800"/>
          </a:xfrm>
          <a:prstGeom prst="ellipse">
            <a:avLst/>
          </a:prstGeom>
          <a:solidFill>
            <a:srgbClr val="1E2761"/>
          </a:solidFill>
          <a:ln/>
        </p:spPr>
      </p:sp>
      <p:pic>
        <p:nvPicPr>
          <p:cNvPr id="16" name="Image 2" descr="icon_tabnine.png">    </p:cNvPr>
          <p:cNvPicPr>
            <a:picLocks noChangeAspect="1"/>
          </p:cNvPicPr>
          <p:nvPr/>
        </p:nvPicPr>
        <p:blipFill>
          <a:blip r:embed="rId3"/>
          <a:stretch>
            <a:fillRect/>
          </a:stretch>
        </p:blipFill>
        <p:spPr>
          <a:xfrm>
            <a:off x="1065276" y="4448556"/>
            <a:ext cx="384048" cy="384048"/>
          </a:xfrm>
          <a:prstGeom prst="rect">
            <a:avLst/>
          </a:prstGeom>
        </p:spPr>
      </p:pic>
      <p:sp>
        <p:nvSpPr>
          <p:cNvPr id="17" name="Text 12"/>
          <p:cNvSpPr/>
          <p:nvPr/>
        </p:nvSpPr>
        <p:spPr>
          <a:xfrm>
            <a:off x="1783080" y="4242816"/>
            <a:ext cx="3931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Tabnine</a:t>
            </a:r>
            <a:endParaRPr lang="en-US" sz="1600" dirty="0"/>
          </a:p>
        </p:txBody>
      </p:sp>
      <p:sp>
        <p:nvSpPr>
          <p:cNvPr id="18" name="Text 13"/>
          <p:cNvSpPr/>
          <p:nvPr/>
        </p:nvSpPr>
        <p:spPr>
          <a:xfrm>
            <a:off x="914400" y="4983480"/>
            <a:ext cx="4709160" cy="1097280"/>
          </a:xfrm>
          <a:prstGeom prst="rect">
            <a:avLst/>
          </a:prstGeom>
          <a:noFill/>
          <a:ln/>
        </p:spPr>
        <p:txBody>
          <a:bodyPr wrap="square" lIns="0" tIns="0" rIns="0" bIns="0" rtlCol="0" anchor="ctr"/>
          <a:lstStyle/>
          <a:p>
            <a:pPr indent="0" marL="0">
              <a:lnSpc>
                <a:spcPts val="1600"/>
              </a:lnSpc>
              <a:buNone/>
            </a:pPr>
            <a:r>
              <a:rPr lang="en-US" sz="1250" dirty="0">
                <a:solidFill>
                  <a:srgbClr val="1B2340"/>
                </a:solidFill>
                <a:latin typeface="Calibri" pitchFamily="34" charset="0"/>
                <a:ea typeface="Calibri" pitchFamily="34" charset="-122"/>
                <a:cs typeface="Calibri" pitchFamily="34" charset="-120"/>
              </a:rPr>
              <a:t>Destaca por su privacidad y cumplimiento legal. Permite despliegue local o on-premises: el código nunca entrena modelos externos.</a:t>
            </a:r>
            <a:endParaRPr lang="en-US" sz="1250" dirty="0"/>
          </a:p>
        </p:txBody>
      </p:sp>
      <p:sp>
        <p:nvSpPr>
          <p:cNvPr id="19" name="Shape 14"/>
          <p:cNvSpPr/>
          <p:nvPr/>
        </p:nvSpPr>
        <p:spPr>
          <a:xfrm>
            <a:off x="6217920" y="4023360"/>
            <a:ext cx="5257800" cy="2148840"/>
          </a:xfrm>
          <a:prstGeom prst="roundRect">
            <a:avLst>
              <a:gd name="adj" fmla="val 4255"/>
            </a:avLst>
          </a:prstGeom>
          <a:solidFill>
            <a:srgbClr val="F4F6FC"/>
          </a:solidFill>
          <a:ln/>
        </p:spPr>
      </p:sp>
      <p:sp>
        <p:nvSpPr>
          <p:cNvPr id="20" name="Shape 15"/>
          <p:cNvSpPr/>
          <p:nvPr/>
        </p:nvSpPr>
        <p:spPr>
          <a:xfrm>
            <a:off x="6473952" y="4279392"/>
            <a:ext cx="685800" cy="685800"/>
          </a:xfrm>
          <a:prstGeom prst="ellipse">
            <a:avLst/>
          </a:prstGeom>
          <a:solidFill>
            <a:srgbClr val="1E2761"/>
          </a:solidFill>
          <a:ln/>
        </p:spPr>
      </p:sp>
      <p:pic>
        <p:nvPicPr>
          <p:cNvPr id="21" name="Image 3" descr="icon_jetbrains.png">    </p:cNvPr>
          <p:cNvPicPr>
            <a:picLocks noChangeAspect="1"/>
          </p:cNvPicPr>
          <p:nvPr/>
        </p:nvPicPr>
        <p:blipFill>
          <a:blip r:embed="rId4"/>
          <a:stretch>
            <a:fillRect/>
          </a:stretch>
        </p:blipFill>
        <p:spPr>
          <a:xfrm>
            <a:off x="6643116" y="4448556"/>
            <a:ext cx="384048" cy="384048"/>
          </a:xfrm>
          <a:prstGeom prst="rect">
            <a:avLst/>
          </a:prstGeom>
        </p:spPr>
      </p:pic>
      <p:sp>
        <p:nvSpPr>
          <p:cNvPr id="22" name="Text 16"/>
          <p:cNvSpPr/>
          <p:nvPr/>
        </p:nvSpPr>
        <p:spPr>
          <a:xfrm>
            <a:off x="7360920" y="4242816"/>
            <a:ext cx="3931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JetBrains AI Assistant</a:t>
            </a:r>
            <a:endParaRPr lang="en-US" sz="1600" dirty="0"/>
          </a:p>
        </p:txBody>
      </p:sp>
      <p:sp>
        <p:nvSpPr>
          <p:cNvPr id="23" name="Text 17"/>
          <p:cNvSpPr/>
          <p:nvPr/>
        </p:nvSpPr>
        <p:spPr>
          <a:xfrm>
            <a:off x="6492240" y="4983480"/>
            <a:ext cx="4709160" cy="1097280"/>
          </a:xfrm>
          <a:prstGeom prst="rect">
            <a:avLst/>
          </a:prstGeom>
          <a:noFill/>
          <a:ln/>
        </p:spPr>
        <p:txBody>
          <a:bodyPr wrap="square" lIns="0" tIns="0" rIns="0" bIns="0" rtlCol="0" anchor="ctr"/>
          <a:lstStyle/>
          <a:p>
            <a:pPr indent="0" marL="0">
              <a:lnSpc>
                <a:spcPts val="1600"/>
              </a:lnSpc>
              <a:buNone/>
            </a:pPr>
            <a:r>
              <a:rPr lang="en-US" sz="1250" dirty="0">
                <a:solidFill>
                  <a:srgbClr val="1B2340"/>
                </a:solidFill>
                <a:latin typeface="Calibri" pitchFamily="34" charset="0"/>
                <a:ea typeface="Calibri" pitchFamily="34" charset="-122"/>
                <a:cs typeface="Calibri" pitchFamily="34" charset="-120"/>
              </a:rPr>
              <a:t>Optimizado para Rider y productos JetBrains, con una comprensión profunda del contexto del proyecto.</a:t>
            </a:r>
            <a:endParaRPr lang="en-US" sz="1250" dirty="0"/>
          </a:p>
        </p:txBody>
      </p:sp>
      <p:sp>
        <p:nvSpPr>
          <p:cNvPr id="24" name="Text 18"/>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6B7690"/>
                </a:solidFill>
                <a:latin typeface="Calibri" pitchFamily="34" charset="0"/>
                <a:ea typeface="Calibri" pitchFamily="34" charset="-122"/>
                <a:cs typeface="Calibri" pitchFamily="34" charset="-120"/>
              </a:rPr>
              <a:t>2 · Competidores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ACEPTACIÓN Y RENDIMIENTO EN .NET</a:t>
            </a:r>
            <a:endParaRPr lang="en-US" sz="1400" dirty="0"/>
          </a:p>
        </p:txBody>
      </p:sp>
      <p:sp>
        <p:nvSpPr>
          <p:cNvPr id="3" name="Text 1"/>
          <p:cNvSpPr/>
          <p:nvPr/>
        </p:nvSpPr>
        <p:spPr>
          <a:xfrm>
            <a:off x="640080" y="73152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¿Quién domina en C# / Visual Studio?</a:t>
            </a:r>
            <a:endParaRPr lang="en-US" sz="2800" dirty="0"/>
          </a:p>
        </p:txBody>
      </p:sp>
      <p:sp>
        <p:nvSpPr>
          <p:cNvPr id="4" name="Text 2"/>
          <p:cNvSpPr/>
          <p:nvPr/>
        </p:nvSpPr>
        <p:spPr>
          <a:xfrm>
            <a:off x="640080" y="1417320"/>
            <a:ext cx="10789920" cy="685800"/>
          </a:xfrm>
          <a:prstGeom prst="rect">
            <a:avLst/>
          </a:prstGeom>
          <a:noFill/>
          <a:ln/>
        </p:spPr>
        <p:txBody>
          <a:bodyPr wrap="square" lIns="0" tIns="0" rIns="0" bIns="0" rtlCol="0" anchor="ctr"/>
          <a:lstStyle/>
          <a:p>
            <a:pPr indent="0" marL="0">
              <a:lnSpc>
                <a:spcPts val="1900"/>
              </a:lnSpc>
              <a:buNone/>
            </a:pPr>
            <a:r>
              <a:rPr lang="en-US" sz="1450" dirty="0">
                <a:solidFill>
                  <a:srgbClr val="CADCFC"/>
                </a:solidFill>
                <a:latin typeface="Calibri" pitchFamily="34" charset="0"/>
                <a:ea typeface="Calibri" pitchFamily="34" charset="-122"/>
                <a:cs typeface="Calibri" pitchFamily="34" charset="-120"/>
              </a:rPr>
              <a:t>Copilot e IntelliCode son los más aceptados por la comunidad .NET gracias a su integración perfecta con Visual Studio y C#. Copilot domina en popularidad por su flexibilidad y su capacidad de sugerir métodos completos.</a:t>
            </a:r>
            <a:endParaRPr lang="en-US" sz="1450" dirty="0"/>
          </a:p>
        </p:txBody>
      </p:sp>
      <p:sp>
        <p:nvSpPr>
          <p:cNvPr id="5" name="Text 3"/>
          <p:cNvSpPr/>
          <p:nvPr/>
        </p:nvSpPr>
        <p:spPr>
          <a:xfrm>
            <a:off x="640080" y="2468880"/>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GitHub Copilot</a:t>
            </a:r>
            <a:endParaRPr lang="en-US" sz="1300" dirty="0"/>
          </a:p>
        </p:txBody>
      </p:sp>
      <p:sp>
        <p:nvSpPr>
          <p:cNvPr id="6" name="Shape 4"/>
          <p:cNvSpPr/>
          <p:nvPr/>
        </p:nvSpPr>
        <p:spPr>
          <a:xfrm>
            <a:off x="3108960" y="2523744"/>
            <a:ext cx="6035040" cy="292608"/>
          </a:xfrm>
          <a:prstGeom prst="roundRect">
            <a:avLst>
              <a:gd name="adj" fmla="val 18750"/>
            </a:avLst>
          </a:prstGeom>
          <a:solidFill>
            <a:srgbClr val="2A3A85"/>
          </a:solidFill>
          <a:ln/>
        </p:spPr>
      </p:sp>
      <p:sp>
        <p:nvSpPr>
          <p:cNvPr id="7" name="Shape 5"/>
          <p:cNvSpPr/>
          <p:nvPr/>
        </p:nvSpPr>
        <p:spPr>
          <a:xfrm>
            <a:off x="3108960" y="2523744"/>
            <a:ext cx="5853989" cy="292608"/>
          </a:xfrm>
          <a:prstGeom prst="roundRect">
            <a:avLst>
              <a:gd name="adj" fmla="val 18750"/>
            </a:avLst>
          </a:prstGeom>
          <a:solidFill>
            <a:srgbClr val="F2A65A"/>
          </a:solidFill>
          <a:ln/>
        </p:spPr>
      </p:sp>
      <p:sp>
        <p:nvSpPr>
          <p:cNvPr id="8" name="Text 6"/>
          <p:cNvSpPr/>
          <p:nvPr/>
        </p:nvSpPr>
        <p:spPr>
          <a:xfrm>
            <a:off x="9326880" y="2468880"/>
            <a:ext cx="2468880" cy="365760"/>
          </a:xfrm>
          <a:prstGeom prst="rect">
            <a:avLst/>
          </a:prstGeom>
          <a:noFill/>
          <a:ln/>
        </p:spPr>
        <p:txBody>
          <a:bodyPr wrap="square" lIns="0" tIns="0" rIns="0" bIns="0" rtlCol="0" anchor="ctr"/>
          <a:lstStyle/>
          <a:p>
            <a:pPr indent="0" marL="0">
              <a:buNone/>
            </a:pPr>
            <a:r>
              <a:rPr lang="en-US" sz="1200" b="1" dirty="0">
                <a:solidFill>
                  <a:srgbClr val="F2A65A"/>
                </a:solidFill>
                <a:latin typeface="Calibri" pitchFamily="34" charset="0"/>
                <a:ea typeface="Calibri" pitchFamily="34" charset="-122"/>
                <a:cs typeface="Calibri" pitchFamily="34" charset="-120"/>
              </a:rPr>
              <a:t>Muy alta</a:t>
            </a:r>
            <a:endParaRPr lang="en-US" sz="1200" dirty="0"/>
          </a:p>
        </p:txBody>
      </p:sp>
      <p:sp>
        <p:nvSpPr>
          <p:cNvPr id="9" name="Text 7"/>
          <p:cNvSpPr/>
          <p:nvPr/>
        </p:nvSpPr>
        <p:spPr>
          <a:xfrm>
            <a:off x="640080" y="3127248"/>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VS IntelliCode</a:t>
            </a:r>
            <a:endParaRPr lang="en-US" sz="1300" dirty="0"/>
          </a:p>
        </p:txBody>
      </p:sp>
      <p:sp>
        <p:nvSpPr>
          <p:cNvPr id="10" name="Shape 8"/>
          <p:cNvSpPr/>
          <p:nvPr/>
        </p:nvSpPr>
        <p:spPr>
          <a:xfrm>
            <a:off x="3108960" y="3182112"/>
            <a:ext cx="6035040" cy="292608"/>
          </a:xfrm>
          <a:prstGeom prst="roundRect">
            <a:avLst>
              <a:gd name="adj" fmla="val 18750"/>
            </a:avLst>
          </a:prstGeom>
          <a:solidFill>
            <a:srgbClr val="2A3A85"/>
          </a:solidFill>
          <a:ln/>
        </p:spPr>
      </p:sp>
      <p:sp>
        <p:nvSpPr>
          <p:cNvPr id="11" name="Shape 9"/>
          <p:cNvSpPr/>
          <p:nvPr/>
        </p:nvSpPr>
        <p:spPr>
          <a:xfrm>
            <a:off x="3108960" y="3182112"/>
            <a:ext cx="4828032" cy="292608"/>
          </a:xfrm>
          <a:prstGeom prst="roundRect">
            <a:avLst>
              <a:gd name="adj" fmla="val 18750"/>
            </a:avLst>
          </a:prstGeom>
          <a:solidFill>
            <a:srgbClr val="CADCFC"/>
          </a:solidFill>
          <a:ln/>
        </p:spPr>
      </p:sp>
      <p:sp>
        <p:nvSpPr>
          <p:cNvPr id="12" name="Text 10"/>
          <p:cNvSpPr/>
          <p:nvPr/>
        </p:nvSpPr>
        <p:spPr>
          <a:xfrm>
            <a:off x="9326880" y="3127248"/>
            <a:ext cx="2468880" cy="365760"/>
          </a:xfrm>
          <a:prstGeom prst="rect">
            <a:avLst/>
          </a:prstGeom>
          <a:noFill/>
          <a:ln/>
        </p:spPr>
        <p:txBody>
          <a:bodyPr wrap="square" lIns="0" tIns="0" rIns="0" bIns="0" rtlCol="0" anchor="ctr"/>
          <a:lstStyle/>
          <a:p>
            <a:pPr indent="0" marL="0">
              <a:buNone/>
            </a:pPr>
            <a:r>
              <a:rPr lang="en-US" sz="1200" dirty="0">
                <a:solidFill>
                  <a:srgbClr val="C7CEEA"/>
                </a:solidFill>
                <a:latin typeface="Calibri" pitchFamily="34" charset="0"/>
                <a:ea typeface="Calibri" pitchFamily="34" charset="-122"/>
                <a:cs typeface="Calibri" pitchFamily="34" charset="-120"/>
              </a:rPr>
              <a:t>Alta (por defecto)</a:t>
            </a:r>
            <a:endParaRPr lang="en-US" sz="1200" dirty="0"/>
          </a:p>
        </p:txBody>
      </p:sp>
      <p:sp>
        <p:nvSpPr>
          <p:cNvPr id="13" name="Text 11"/>
          <p:cNvSpPr/>
          <p:nvPr/>
        </p:nvSpPr>
        <p:spPr>
          <a:xfrm>
            <a:off x="640080" y="3785616"/>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JetBrains AI</a:t>
            </a:r>
            <a:endParaRPr lang="en-US" sz="1300" dirty="0"/>
          </a:p>
        </p:txBody>
      </p:sp>
      <p:sp>
        <p:nvSpPr>
          <p:cNvPr id="14" name="Shape 12"/>
          <p:cNvSpPr/>
          <p:nvPr/>
        </p:nvSpPr>
        <p:spPr>
          <a:xfrm>
            <a:off x="3108960" y="3840480"/>
            <a:ext cx="6035040" cy="292608"/>
          </a:xfrm>
          <a:prstGeom prst="roundRect">
            <a:avLst>
              <a:gd name="adj" fmla="val 18750"/>
            </a:avLst>
          </a:prstGeom>
          <a:solidFill>
            <a:srgbClr val="2A3A85"/>
          </a:solidFill>
          <a:ln/>
        </p:spPr>
      </p:sp>
      <p:sp>
        <p:nvSpPr>
          <p:cNvPr id="15" name="Shape 13"/>
          <p:cNvSpPr/>
          <p:nvPr/>
        </p:nvSpPr>
        <p:spPr>
          <a:xfrm>
            <a:off x="3108960" y="3840480"/>
            <a:ext cx="4103827" cy="292608"/>
          </a:xfrm>
          <a:prstGeom prst="roundRect">
            <a:avLst>
              <a:gd name="adj" fmla="val 18750"/>
            </a:avLst>
          </a:prstGeom>
          <a:solidFill>
            <a:srgbClr val="CADCFC"/>
          </a:solidFill>
          <a:ln/>
        </p:spPr>
      </p:sp>
      <p:sp>
        <p:nvSpPr>
          <p:cNvPr id="16" name="Text 14"/>
          <p:cNvSpPr/>
          <p:nvPr/>
        </p:nvSpPr>
        <p:spPr>
          <a:xfrm>
            <a:off x="9326880" y="3785616"/>
            <a:ext cx="2468880" cy="365760"/>
          </a:xfrm>
          <a:prstGeom prst="rect">
            <a:avLst/>
          </a:prstGeom>
          <a:noFill/>
          <a:ln/>
        </p:spPr>
        <p:txBody>
          <a:bodyPr wrap="square" lIns="0" tIns="0" rIns="0" bIns="0" rtlCol="0" anchor="ctr"/>
          <a:lstStyle/>
          <a:p>
            <a:pPr indent="0" marL="0">
              <a:buNone/>
            </a:pPr>
            <a:r>
              <a:rPr lang="en-US" sz="1200" dirty="0">
                <a:solidFill>
                  <a:srgbClr val="C7CEEA"/>
                </a:solidFill>
                <a:latin typeface="Calibri" pitchFamily="34" charset="0"/>
                <a:ea typeface="Calibri" pitchFamily="34" charset="-122"/>
                <a:cs typeface="Calibri" pitchFamily="34" charset="-120"/>
              </a:rPr>
              <a:t>Alta en Rider</a:t>
            </a:r>
            <a:endParaRPr lang="en-US" sz="1200" dirty="0"/>
          </a:p>
        </p:txBody>
      </p:sp>
      <p:sp>
        <p:nvSpPr>
          <p:cNvPr id="17" name="Text 15"/>
          <p:cNvSpPr/>
          <p:nvPr/>
        </p:nvSpPr>
        <p:spPr>
          <a:xfrm>
            <a:off x="640080" y="4443984"/>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Tabnine</a:t>
            </a:r>
            <a:endParaRPr lang="en-US" sz="1300" dirty="0"/>
          </a:p>
        </p:txBody>
      </p:sp>
      <p:sp>
        <p:nvSpPr>
          <p:cNvPr id="18" name="Shape 16"/>
          <p:cNvSpPr/>
          <p:nvPr/>
        </p:nvSpPr>
        <p:spPr>
          <a:xfrm>
            <a:off x="3108960" y="4498848"/>
            <a:ext cx="6035040" cy="292608"/>
          </a:xfrm>
          <a:prstGeom prst="roundRect">
            <a:avLst>
              <a:gd name="adj" fmla="val 18750"/>
            </a:avLst>
          </a:prstGeom>
          <a:solidFill>
            <a:srgbClr val="2A3A85"/>
          </a:solidFill>
          <a:ln/>
        </p:spPr>
      </p:sp>
      <p:sp>
        <p:nvSpPr>
          <p:cNvPr id="19" name="Shape 17"/>
          <p:cNvSpPr/>
          <p:nvPr/>
        </p:nvSpPr>
        <p:spPr>
          <a:xfrm>
            <a:off x="3108960" y="4498848"/>
            <a:ext cx="3319272" cy="292608"/>
          </a:xfrm>
          <a:prstGeom prst="roundRect">
            <a:avLst>
              <a:gd name="adj" fmla="val 18750"/>
            </a:avLst>
          </a:prstGeom>
          <a:solidFill>
            <a:srgbClr val="CADCFC"/>
          </a:solidFill>
          <a:ln/>
        </p:spPr>
      </p:sp>
      <p:sp>
        <p:nvSpPr>
          <p:cNvPr id="20" name="Text 18"/>
          <p:cNvSpPr/>
          <p:nvPr/>
        </p:nvSpPr>
        <p:spPr>
          <a:xfrm>
            <a:off x="9326880" y="4443984"/>
            <a:ext cx="2468880" cy="365760"/>
          </a:xfrm>
          <a:prstGeom prst="rect">
            <a:avLst/>
          </a:prstGeom>
          <a:noFill/>
          <a:ln/>
        </p:spPr>
        <p:txBody>
          <a:bodyPr wrap="square" lIns="0" tIns="0" rIns="0" bIns="0" rtlCol="0" anchor="ctr"/>
          <a:lstStyle/>
          <a:p>
            <a:pPr indent="0" marL="0">
              <a:buNone/>
            </a:pPr>
            <a:r>
              <a:rPr lang="en-US" sz="1200" dirty="0">
                <a:solidFill>
                  <a:srgbClr val="C7CEEA"/>
                </a:solidFill>
                <a:latin typeface="Calibri" pitchFamily="34" charset="0"/>
                <a:ea typeface="Calibri" pitchFamily="34" charset="-122"/>
                <a:cs typeface="Calibri" pitchFamily="34" charset="-120"/>
              </a:rPr>
              <a:t>Media-alta (corporativo)</a:t>
            </a:r>
            <a:endParaRPr lang="en-US" sz="1200" dirty="0"/>
          </a:p>
        </p:txBody>
      </p:sp>
      <p:sp>
        <p:nvSpPr>
          <p:cNvPr id="21" name="Text 19"/>
          <p:cNvSpPr/>
          <p:nvPr/>
        </p:nvSpPr>
        <p:spPr>
          <a:xfrm>
            <a:off x="640080" y="5102352"/>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Amazon Q</a:t>
            </a:r>
            <a:endParaRPr lang="en-US" sz="1300" dirty="0"/>
          </a:p>
        </p:txBody>
      </p:sp>
      <p:sp>
        <p:nvSpPr>
          <p:cNvPr id="22" name="Shape 20"/>
          <p:cNvSpPr/>
          <p:nvPr/>
        </p:nvSpPr>
        <p:spPr>
          <a:xfrm>
            <a:off x="3108960" y="5157216"/>
            <a:ext cx="6035040" cy="292608"/>
          </a:xfrm>
          <a:prstGeom prst="roundRect">
            <a:avLst>
              <a:gd name="adj" fmla="val 18750"/>
            </a:avLst>
          </a:prstGeom>
          <a:solidFill>
            <a:srgbClr val="2A3A85"/>
          </a:solidFill>
          <a:ln/>
        </p:spPr>
      </p:sp>
      <p:sp>
        <p:nvSpPr>
          <p:cNvPr id="23" name="Shape 21"/>
          <p:cNvSpPr/>
          <p:nvPr/>
        </p:nvSpPr>
        <p:spPr>
          <a:xfrm>
            <a:off x="3108960" y="5157216"/>
            <a:ext cx="2534717" cy="292608"/>
          </a:xfrm>
          <a:prstGeom prst="roundRect">
            <a:avLst>
              <a:gd name="adj" fmla="val 18750"/>
            </a:avLst>
          </a:prstGeom>
          <a:solidFill>
            <a:srgbClr val="CADCFC"/>
          </a:solidFill>
          <a:ln/>
        </p:spPr>
      </p:sp>
      <p:sp>
        <p:nvSpPr>
          <p:cNvPr id="24" name="Text 22"/>
          <p:cNvSpPr/>
          <p:nvPr/>
        </p:nvSpPr>
        <p:spPr>
          <a:xfrm>
            <a:off x="9326880" y="5102352"/>
            <a:ext cx="2468880" cy="365760"/>
          </a:xfrm>
          <a:prstGeom prst="rect">
            <a:avLst/>
          </a:prstGeom>
          <a:noFill/>
          <a:ln/>
        </p:spPr>
        <p:txBody>
          <a:bodyPr wrap="square" lIns="0" tIns="0" rIns="0" bIns="0" rtlCol="0" anchor="ctr"/>
          <a:lstStyle/>
          <a:p>
            <a:pPr indent="0" marL="0">
              <a:buNone/>
            </a:pPr>
            <a:r>
              <a:rPr lang="en-US" sz="1200" dirty="0">
                <a:solidFill>
                  <a:srgbClr val="C7CEEA"/>
                </a:solidFill>
                <a:latin typeface="Calibri" pitchFamily="34" charset="0"/>
                <a:ea typeface="Calibri" pitchFamily="34" charset="-122"/>
                <a:cs typeface="Calibri" pitchFamily="34" charset="-120"/>
              </a:rPr>
              <a:t>Media (entornos AWS)</a:t>
            </a:r>
            <a:endParaRPr lang="en-US" sz="1200" dirty="0"/>
          </a:p>
        </p:txBody>
      </p:sp>
      <p:sp>
        <p:nvSpPr>
          <p:cNvPr id="25" name="Text 23"/>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8891B0"/>
                </a:solidFill>
                <a:latin typeface="Calibri" pitchFamily="34" charset="0"/>
                <a:ea typeface="Calibri" pitchFamily="34" charset="-122"/>
                <a:cs typeface="Calibri" pitchFamily="34" charset="-120"/>
              </a:rPr>
              <a:t>3 · Rendimiento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VENTAJAS Y DESVENTAJAS</a:t>
            </a:r>
            <a:endParaRPr lang="en-US" sz="1400" dirty="0"/>
          </a:p>
        </p:txBody>
      </p:sp>
      <p:sp>
        <p:nvSpPr>
          <p:cNvPr id="3" name="Text 1"/>
          <p:cNvSpPr/>
          <p:nvPr/>
        </p:nvSpPr>
        <p:spPr>
          <a:xfrm>
            <a:off x="640080" y="731520"/>
            <a:ext cx="107899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GitHub Copilot frente al resto</a:t>
            </a:r>
            <a:endParaRPr lang="en-US" sz="2800" dirty="0"/>
          </a:p>
        </p:txBody>
      </p:sp>
      <p:sp>
        <p:nvSpPr>
          <p:cNvPr id="4" name="Shape 2"/>
          <p:cNvSpPr/>
          <p:nvPr/>
        </p:nvSpPr>
        <p:spPr>
          <a:xfrm>
            <a:off x="640080" y="1691640"/>
            <a:ext cx="5257800" cy="4206240"/>
          </a:xfrm>
          <a:prstGeom prst="roundRect">
            <a:avLst>
              <a:gd name="adj" fmla="val 2174"/>
            </a:avLst>
          </a:prstGeom>
          <a:solidFill>
            <a:srgbClr val="EAF7F1"/>
          </a:solidFill>
          <a:ln/>
        </p:spPr>
      </p:sp>
      <p:pic>
        <p:nvPicPr>
          <p:cNvPr id="5" name="Image 0" descr="icon_check.png">    </p:cNvPr>
          <p:cNvPicPr>
            <a:picLocks noChangeAspect="1"/>
          </p:cNvPicPr>
          <p:nvPr/>
        </p:nvPicPr>
        <p:blipFill>
          <a:blip r:embed="rId1"/>
          <a:stretch>
            <a:fillRect/>
          </a:stretch>
        </p:blipFill>
        <p:spPr>
          <a:xfrm>
            <a:off x="914400" y="1965960"/>
            <a:ext cx="365760" cy="365760"/>
          </a:xfrm>
          <a:prstGeom prst="rect">
            <a:avLst/>
          </a:prstGeom>
        </p:spPr>
      </p:pic>
      <p:sp>
        <p:nvSpPr>
          <p:cNvPr id="6" name="Text 3"/>
          <p:cNvSpPr/>
          <p:nvPr/>
        </p:nvSpPr>
        <p:spPr>
          <a:xfrm>
            <a:off x="1417320" y="1947672"/>
            <a:ext cx="3200400" cy="411480"/>
          </a:xfrm>
          <a:prstGeom prst="rect">
            <a:avLst/>
          </a:prstGeom>
          <a:noFill/>
          <a:ln/>
        </p:spPr>
        <p:txBody>
          <a:bodyPr wrap="square" lIns="0" tIns="0" rIns="0" bIns="0" rtlCol="0" anchor="ctr"/>
          <a:lstStyle/>
          <a:p>
            <a:pPr indent="0" marL="0">
              <a:buNone/>
            </a:pPr>
            <a:r>
              <a:rPr lang="en-US" sz="1800" b="1" dirty="0">
                <a:solidFill>
                  <a:srgbClr val="1E9E6B"/>
                </a:solidFill>
                <a:latin typeface="Calibri" pitchFamily="34" charset="0"/>
                <a:ea typeface="Calibri" pitchFamily="34" charset="-122"/>
                <a:cs typeface="Calibri" pitchFamily="34" charset="-120"/>
              </a:rPr>
              <a:t>Ventajas</a:t>
            </a:r>
            <a:endParaRPr lang="en-US" sz="1800" dirty="0"/>
          </a:p>
        </p:txBody>
      </p:sp>
      <p:sp>
        <p:nvSpPr>
          <p:cNvPr id="7" name="Text 4"/>
          <p:cNvSpPr/>
          <p:nvPr/>
        </p:nvSpPr>
        <p:spPr>
          <a:xfrm>
            <a:off x="914400" y="2560320"/>
            <a:ext cx="4709160" cy="3108960"/>
          </a:xfrm>
          <a:prstGeom prst="rect">
            <a:avLst/>
          </a:prstGeom>
          <a:noFill/>
          <a:ln/>
        </p:spPr>
        <p:txBody>
          <a:bodyPr wrap="square" lIns="0" tIns="0" rIns="0" bIns="0" rtlCol="0" anchor="ctr"/>
          <a:lstStyle/>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El más versátil: admite múltiples modelos (GPT-4o, Claude, etc.)</a:t>
            </a:r>
            <a:endParaRPr lang="en-US" sz="1400" dirty="0"/>
          </a:p>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Entiende código C# complejo con gran precisión</a:t>
            </a:r>
            <a:endParaRPr lang="en-US" sz="1400" dirty="0"/>
          </a:p>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La comunidad de desarrolladores más grande</a:t>
            </a:r>
            <a:endParaRPr lang="en-US" sz="1400" dirty="0"/>
          </a:p>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Integración perfecta con Visual Studio</a:t>
            </a:r>
            <a:endParaRPr lang="en-US" sz="1400" dirty="0"/>
          </a:p>
        </p:txBody>
      </p:sp>
      <p:sp>
        <p:nvSpPr>
          <p:cNvPr id="8" name="Shape 5"/>
          <p:cNvSpPr/>
          <p:nvPr/>
        </p:nvSpPr>
        <p:spPr>
          <a:xfrm>
            <a:off x="6217920" y="1691640"/>
            <a:ext cx="5257800" cy="4206240"/>
          </a:xfrm>
          <a:prstGeom prst="roundRect">
            <a:avLst>
              <a:gd name="adj" fmla="val 2174"/>
            </a:avLst>
          </a:prstGeom>
          <a:solidFill>
            <a:srgbClr val="FBEAE8"/>
          </a:solidFill>
          <a:ln/>
        </p:spPr>
      </p:sp>
      <p:pic>
        <p:nvPicPr>
          <p:cNvPr id="9" name="Image 1" descr="icon_cross.png">    </p:cNvPr>
          <p:cNvPicPr>
            <a:picLocks noChangeAspect="1"/>
          </p:cNvPicPr>
          <p:nvPr/>
        </p:nvPicPr>
        <p:blipFill>
          <a:blip r:embed="rId2"/>
          <a:stretch>
            <a:fillRect/>
          </a:stretch>
        </p:blipFill>
        <p:spPr>
          <a:xfrm>
            <a:off x="6492240" y="1965960"/>
            <a:ext cx="365760" cy="365760"/>
          </a:xfrm>
          <a:prstGeom prst="rect">
            <a:avLst/>
          </a:prstGeom>
        </p:spPr>
      </p:pic>
      <p:sp>
        <p:nvSpPr>
          <p:cNvPr id="10" name="Text 6"/>
          <p:cNvSpPr/>
          <p:nvPr/>
        </p:nvSpPr>
        <p:spPr>
          <a:xfrm>
            <a:off x="6995160" y="1947672"/>
            <a:ext cx="3200400" cy="411480"/>
          </a:xfrm>
          <a:prstGeom prst="rect">
            <a:avLst/>
          </a:prstGeom>
          <a:noFill/>
          <a:ln/>
        </p:spPr>
        <p:txBody>
          <a:bodyPr wrap="square" lIns="0" tIns="0" rIns="0" bIns="0"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Desventajas</a:t>
            </a:r>
            <a:endParaRPr lang="en-US" sz="1800" dirty="0"/>
          </a:p>
        </p:txBody>
      </p:sp>
      <p:sp>
        <p:nvSpPr>
          <p:cNvPr id="11" name="Text 7"/>
          <p:cNvSpPr/>
          <p:nvPr/>
        </p:nvSpPr>
        <p:spPr>
          <a:xfrm>
            <a:off x="6492240" y="2560320"/>
            <a:ext cx="4709160" cy="3108960"/>
          </a:xfrm>
          <a:prstGeom prst="rect">
            <a:avLst/>
          </a:prstGeom>
          <a:noFill/>
          <a:ln/>
        </p:spPr>
        <p:txBody>
          <a:bodyPr wrap="square" lIns="0" tIns="0" rIns="0" bIns="0" rtlCol="0" anchor="ctr"/>
          <a:lstStyle/>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Suscripción de pago (salvo licencia de estudiante)</a:t>
            </a:r>
            <a:endParaRPr lang="en-US" sz="1400" dirty="0"/>
          </a:p>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Requiere conexión a la nube para funcionar</a:t>
            </a:r>
            <a:endParaRPr lang="en-US" sz="1400" dirty="0"/>
          </a:p>
          <a:p>
            <a:pPr marL="177800" indent="-177800">
              <a:lnSpc>
                <a:spcPts val="1900"/>
              </a:lnSpc>
              <a:spcAft>
                <a:spcPts val="1200"/>
              </a:spcAft>
              <a:buSzPct val="100000"/>
              <a:buChar char="•"/>
            </a:pPr>
            <a:r>
              <a:rPr lang="en-US" sz="1400" dirty="0">
                <a:solidFill>
                  <a:srgbClr val="1B2340"/>
                </a:solidFill>
                <a:latin typeface="Calibri" pitchFamily="34" charset="0"/>
                <a:ea typeface="Calibri" pitchFamily="34" charset="-122"/>
                <a:cs typeface="Calibri" pitchFamily="34" charset="-120"/>
              </a:rPr>
              <a:t>En entornos con normas de privacidad estrictas, Tabnine le lleva ventaja en control de datos</a:t>
            </a:r>
            <a:endParaRPr lang="en-US" sz="1400" dirty="0"/>
          </a:p>
        </p:txBody>
      </p:sp>
      <p:sp>
        <p:nvSpPr>
          <p:cNvPr id="12" name="Text 8"/>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6B7690"/>
                </a:solidFill>
                <a:latin typeface="Calibri" pitchFamily="34" charset="0"/>
                <a:ea typeface="Calibri" pitchFamily="34" charset="-122"/>
                <a:cs typeface="Calibri" pitchFamily="34" charset="-120"/>
              </a:rPr>
              <a:t>4 · Pros y contras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MATRIZ COMPARATIVA</a:t>
            </a:r>
            <a:endParaRPr lang="en-US" sz="1400" dirty="0"/>
          </a:p>
        </p:txBody>
      </p:sp>
      <p:sp>
        <p:nvSpPr>
          <p:cNvPr id="3" name="Text 1"/>
          <p:cNvSpPr/>
          <p:nvPr/>
        </p:nvSpPr>
        <p:spPr>
          <a:xfrm>
            <a:off x="640080" y="731520"/>
            <a:ext cx="107899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Resumen rápido de apoyo visual</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4206240"/>
        </p:xfrm>
        <a:graphic>
          <a:graphicData uri="http://schemas.openxmlformats.org/drawingml/2006/table">
            <a:tbl>
              <a:tblPr/>
              <a:tblGrid>
                <a:gridCol w="2286000"/>
                <a:gridCol w="3383280"/>
                <a:gridCol w="2926080"/>
                <a:gridCol w="2286000"/>
              </a:tblGrid>
              <a:tr h="502920">
                <a:tc>
                  <a:txBody>
                    <a:bodyPr/>
                    <a:lstStyle/>
                    <a:p>
                      <a:pPr algn="l" indent="0" marL="0">
                        <a:buNone/>
                      </a:pPr>
                      <a:r>
                        <a:rPr lang="en-US" sz="1300" b="1" dirty="0">
                          <a:solidFill>
                            <a:srgbClr val="FFFFFF"/>
                          </a:solidFill>
                        </a:rPr>
                        <a:t>Herramienta</a:t>
                      </a:r>
                      <a:endParaRPr lang="en-US" sz="13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rPr>
                        <a:t>Punto fuerte</a:t>
                      </a:r>
                      <a:endParaRPr lang="en-US" sz="13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rPr>
                        <a:t>Enfoque principal</a:t>
                      </a:r>
                      <a:endParaRPr lang="en-US" sz="13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rPr>
                        <a:t>Aceptación en .NET</a:t>
                      </a:r>
                      <a:endParaRPr lang="en-US" sz="13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solidFill>
                      <a:srgbClr val="1E2761"/>
                    </a:solidFill>
                  </a:tcPr>
                </a:tc>
              </a:tr>
              <a:tr h="731520">
                <a:tc>
                  <a:txBody>
                    <a:bodyPr/>
                    <a:lstStyle/>
                    <a:p>
                      <a:pPr algn="l" indent="0" marL="0">
                        <a:buNone/>
                      </a:pPr>
                      <a:r>
                        <a:rPr lang="en-US" sz="1200" b="1" dirty="0">
                          <a:solidFill>
                            <a:srgbClr val="1E2761"/>
                          </a:solidFill>
                        </a:rPr>
                        <a:t>GitHub Copilot</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Versatilidad, múltiples modelos y ecosistema</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Asistencia general de código y chat</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b="1" dirty="0">
                          <a:solidFill>
                            <a:srgbClr val="1E9E6B"/>
                          </a:solidFill>
                        </a:rPr>
                        <a:t>Muy alta (estándar de la industria)</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r>
              <a:tr h="731520">
                <a:tc>
                  <a:txBody>
                    <a:bodyPr/>
                    <a:lstStyle/>
                    <a:p>
                      <a:pPr algn="l" indent="0" marL="0">
                        <a:buNone/>
                      </a:pPr>
                      <a:r>
                        <a:rPr lang="en-US" sz="1200" b="1" dirty="0">
                          <a:solidFill>
                            <a:srgbClr val="1E2761"/>
                          </a:solidFill>
                        </a:rPr>
                        <a:t>VS IntelliCode</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Integración nativa ligera en Visual Studio</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Autocompletado contextual</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Alta (viene por defecto)</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r>
              <a:tr h="731520">
                <a:tc>
                  <a:txBody>
                    <a:bodyPr/>
                    <a:lstStyle/>
                    <a:p>
                      <a:pPr algn="l" indent="0" marL="0">
                        <a:buNone/>
                      </a:pPr>
                      <a:r>
                        <a:rPr lang="en-US" sz="1200" b="1" dirty="0">
                          <a:solidFill>
                            <a:srgbClr val="1E2761"/>
                          </a:solidFill>
                        </a:rPr>
                        <a:t>Amazon Q</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Seguridad integrada y despliegue en AWS</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Nube AWS y escaneo de vulnerabilidades</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Media (alta en entornos AWS)</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r>
              <a:tr h="731520">
                <a:tc>
                  <a:txBody>
                    <a:bodyPr/>
                    <a:lstStyle/>
                    <a:p>
                      <a:pPr algn="l" indent="0" marL="0">
                        <a:buNone/>
                      </a:pPr>
                      <a:r>
                        <a:rPr lang="en-US" sz="1200" b="1" dirty="0">
                          <a:solidFill>
                            <a:srgbClr val="1E2761"/>
                          </a:solidFill>
                        </a:rPr>
                        <a:t>Tabnine</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Privacidad total (Zero Data Retention) y on-premise</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Seguridad de código y cumplimiento legal</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Media-alta (entorno corporativo/banca)</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r>
              <a:tr h="731520">
                <a:tc>
                  <a:txBody>
                    <a:bodyPr/>
                    <a:lstStyle/>
                    <a:p>
                      <a:pPr algn="l" indent="0" marL="0">
                        <a:buNone/>
                      </a:pPr>
                      <a:r>
                        <a:rPr lang="en-US" sz="1200" b="1" dirty="0">
                          <a:solidFill>
                            <a:srgbClr val="1E2761"/>
                          </a:solidFill>
                        </a:rPr>
                        <a:t>JetBrains AI</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Integración profunda con el IDE Rider</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Refactorización avanzada en Rider</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c>
                  <a:txBody>
                    <a:bodyPr/>
                    <a:lstStyle/>
                    <a:p>
                      <a:pPr algn="l" indent="0" marL="0">
                        <a:buNone/>
                      </a:pPr>
                      <a:r>
                        <a:rPr lang="en-US" sz="1200" dirty="0">
                          <a:solidFill>
                            <a:srgbClr val="1B2340"/>
                          </a:solidFill>
                        </a:rPr>
                        <a:t>Alta en usuarios de JetBrains</a:t>
                      </a:r>
                      <a:endParaRPr lang="en-US" sz="1200" dirty="0"/>
                    </a:p>
                  </a:txBody>
                  <a:tcPr marL="91440" marR="91440" marT="45720" marB="45720" anchor="ctr">
                    <a:lnL w="12700" cap="flat" cmpd="sng" algn="ctr">
                      <a:solidFill>
                        <a:srgbClr val="E1E5F2"/>
                      </a:solidFill>
                      <a:prstDash val="solid"/>
                      <a:round/>
                      <a:headEnd type="none" w="med" len="med"/>
                      <a:tailEnd type="none" w="med" len="med"/>
                    </a:lnL>
                    <a:lnR w="12700" cap="flat" cmpd="sng" algn="ctr">
                      <a:solidFill>
                        <a:srgbClr val="E1E5F2"/>
                      </a:solidFill>
                      <a:prstDash val="solid"/>
                      <a:round/>
                      <a:headEnd type="none" w="med" len="med"/>
                      <a:tailEnd type="none" w="med" len="med"/>
                    </a:lnR>
                    <a:lnT w="12700" cap="flat" cmpd="sng" algn="ctr">
                      <a:solidFill>
                        <a:srgbClr val="E1E5F2"/>
                      </a:solidFill>
                      <a:prstDash val="solid"/>
                      <a:round/>
                      <a:headEnd type="none" w="med" len="med"/>
                      <a:tailEnd type="none" w="med" len="med"/>
                    </a:lnT>
                    <a:lnB w="12700" cap="flat" cmpd="sng" algn="ctr">
                      <a:solidFill>
                        <a:srgbClr val="E1E5F2"/>
                      </a:solidFill>
                      <a:prstDash val="solid"/>
                      <a:round/>
                      <a:headEnd type="none" w="med" len="med"/>
                      <a:tailEnd type="none" w="med" len="med"/>
                    </a:lnB>
                  </a:tcPr>
                </a:tc>
              </a:tr>
            </a:tbl>
          </a:graphicData>
        </a:graphic>
      </p:graphicFrame>
      <p:sp>
        <p:nvSpPr>
          <p:cNvPr id="5" name="Text 2"/>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6B7690"/>
                </a:solidFill>
                <a:latin typeface="Calibri" pitchFamily="34" charset="0"/>
                <a:ea typeface="Calibri" pitchFamily="34" charset="-122"/>
                <a:cs typeface="Calibri" pitchFamily="34" charset="-120"/>
              </a:rPr>
              <a:t>5 · Matriz</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3840480"/>
            <a:ext cx="4572000" cy="4572000"/>
          </a:xfrm>
          <a:prstGeom prst="ellipse">
            <a:avLst/>
          </a:prstGeom>
          <a:solidFill>
            <a:srgbClr val="233067"/>
          </a:solidFill>
          <a:ln/>
        </p:spPr>
      </p:sp>
      <p:sp>
        <p:nvSpPr>
          <p:cNvPr id="3" name="Text 1"/>
          <p:cNvSpPr/>
          <p:nvPr/>
        </p:nvSpPr>
        <p:spPr>
          <a:xfrm>
            <a:off x="731520" y="548640"/>
            <a:ext cx="7315200" cy="32004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CONCLUSIÓN</a:t>
            </a:r>
            <a:endParaRPr lang="en-US" sz="1400" dirty="0"/>
          </a:p>
        </p:txBody>
      </p:sp>
      <p:sp>
        <p:nvSpPr>
          <p:cNvPr id="4" name="Text 2"/>
          <p:cNvSpPr/>
          <p:nvPr/>
        </p:nvSpPr>
        <p:spPr>
          <a:xfrm>
            <a:off x="731520" y="914400"/>
            <a:ext cx="10058400" cy="1371600"/>
          </a:xfrm>
          <a:prstGeom prst="rect">
            <a:avLst/>
          </a:prstGeom>
          <a:noFill/>
          <a:ln/>
        </p:spPr>
        <p:txBody>
          <a:bodyPr wrap="square" lIns="0" tIns="0" rIns="0" bIns="0" rtlCol="0" anchor="ctr"/>
          <a:lstStyle/>
          <a:p>
            <a:pPr indent="0" marL="0">
              <a:lnSpc>
                <a:spcPts val="3400"/>
              </a:lnSpc>
              <a:buNone/>
            </a:pPr>
            <a:r>
              <a:rPr lang="en-US" sz="3000" b="1" dirty="0">
                <a:solidFill>
                  <a:srgbClr val="FFFFFF"/>
                </a:solidFill>
                <a:latin typeface="Cambria" pitchFamily="34" charset="0"/>
                <a:ea typeface="Cambria" pitchFamily="34" charset="-122"/>
                <a:cs typeface="Cambria" pitchFamily="34" charset="-120"/>
              </a:rPr>
              <a:t>Copilot es el estándar, pero la</a:t>
            </a:r>
            <a:endParaRPr lang="en-US" sz="3000" dirty="0"/>
          </a:p>
          <a:p>
            <a:pPr indent="0" marL="0">
              <a:lnSpc>
                <a:spcPts val="3400"/>
              </a:lnSpc>
              <a:buNone/>
            </a:pPr>
            <a:r>
              <a:rPr lang="en-US" sz="3000" b="1" dirty="0">
                <a:solidFill>
                  <a:srgbClr val="FFFFFF"/>
                </a:solidFill>
                <a:latin typeface="Cambria" pitchFamily="34" charset="0"/>
                <a:ea typeface="Cambria" pitchFamily="34" charset="-122"/>
                <a:cs typeface="Cambria" pitchFamily="34" charset="-120"/>
              </a:rPr>
              <a:t>infraestructura decide</a:t>
            </a:r>
            <a:endParaRPr lang="en-US" sz="3000" dirty="0"/>
          </a:p>
        </p:txBody>
      </p:sp>
      <p:sp>
        <p:nvSpPr>
          <p:cNvPr id="5" name="Text 3"/>
          <p:cNvSpPr/>
          <p:nvPr/>
        </p:nvSpPr>
        <p:spPr>
          <a:xfrm>
            <a:off x="731520" y="2331720"/>
            <a:ext cx="9875520" cy="640080"/>
          </a:xfrm>
          <a:prstGeom prst="rect">
            <a:avLst/>
          </a:prstGeom>
          <a:noFill/>
          <a:ln/>
        </p:spPr>
        <p:txBody>
          <a:bodyPr wrap="square" lIns="0" tIns="0" rIns="0" bIns="0" rtlCol="0" anchor="ctr"/>
          <a:lstStyle/>
          <a:p>
            <a:pPr indent="0" marL="0">
              <a:lnSpc>
                <a:spcPts val="2000"/>
              </a:lnSpc>
              <a:buNone/>
            </a:pPr>
            <a:r>
              <a:rPr lang="en-US" sz="1600" i="1" dirty="0">
                <a:solidFill>
                  <a:srgbClr val="CADCFC"/>
                </a:solidFill>
                <a:latin typeface="Calibri" pitchFamily="34" charset="0"/>
                <a:ea typeface="Calibri" pitchFamily="34" charset="-122"/>
                <a:cs typeface="Calibri" pitchFamily="34" charset="-120"/>
              </a:rPr>
              <a:t>La elección ideal depende del contexto: AWS para Amazon Q, alta privacidad para Tabnine, o Rider para JetBrains AI.</a:t>
            </a:r>
            <a:endParaRPr lang="en-US" sz="1600" dirty="0"/>
          </a:p>
        </p:txBody>
      </p:sp>
      <p:sp>
        <p:nvSpPr>
          <p:cNvPr id="6" name="Shape 4"/>
          <p:cNvSpPr/>
          <p:nvPr/>
        </p:nvSpPr>
        <p:spPr>
          <a:xfrm>
            <a:off x="731520" y="3154680"/>
            <a:ext cx="10698480" cy="0"/>
          </a:xfrm>
          <a:prstGeom prst="line">
            <a:avLst/>
          </a:prstGeom>
          <a:noFill/>
          <a:ln w="12700">
            <a:solidFill>
              <a:srgbClr val="3B4A8F"/>
            </a:solidFill>
            <a:prstDash val="solid"/>
          </a:ln>
        </p:spPr>
      </p:sp>
      <p:sp>
        <p:nvSpPr>
          <p:cNvPr id="7" name="Text 5"/>
          <p:cNvSpPr/>
          <p:nvPr/>
        </p:nvSpPr>
        <p:spPr>
          <a:xfrm>
            <a:off x="731520" y="3383280"/>
            <a:ext cx="7315200" cy="320040"/>
          </a:xfrm>
          <a:prstGeom prst="rect">
            <a:avLst/>
          </a:prstGeom>
          <a:noFill/>
          <a:ln/>
        </p:spPr>
        <p:txBody>
          <a:bodyPr wrap="square" lIns="0" tIns="0" rIns="0" bIns="0" rtlCol="0" anchor="ctr"/>
          <a:lstStyle/>
          <a:p>
            <a:pPr indent="0" marL="0">
              <a:buNone/>
            </a:pPr>
            <a:r>
              <a:rPr lang="en-US" sz="1300" b="1" spc="200" kern="0" dirty="0">
                <a:solidFill>
                  <a:srgbClr val="F2A65A"/>
                </a:solidFill>
                <a:latin typeface="Calibri" pitchFamily="34" charset="0"/>
                <a:ea typeface="Calibri" pitchFamily="34" charset="-122"/>
                <a:cs typeface="Calibri" pitchFamily="34" charset="-120"/>
              </a:rPr>
              <a:t>PARA PROFUNDIZAR</a:t>
            </a:r>
            <a:endParaRPr lang="en-US" sz="1300" dirty="0"/>
          </a:p>
        </p:txBody>
      </p:sp>
      <p:sp>
        <p:nvSpPr>
          <p:cNvPr id="8" name="Shape 6"/>
          <p:cNvSpPr/>
          <p:nvPr/>
        </p:nvSpPr>
        <p:spPr>
          <a:xfrm>
            <a:off x="731520" y="3849624"/>
            <a:ext cx="109728" cy="109728"/>
          </a:xfrm>
          <a:prstGeom prst="ellipse">
            <a:avLst/>
          </a:prstGeom>
          <a:solidFill>
            <a:srgbClr val="F2A65A"/>
          </a:solidFill>
          <a:ln/>
        </p:spPr>
      </p:sp>
      <p:sp>
        <p:nvSpPr>
          <p:cNvPr id="9" name="Text 7"/>
          <p:cNvSpPr/>
          <p:nvPr/>
        </p:nvSpPr>
        <p:spPr>
          <a:xfrm>
            <a:off x="1051560" y="370332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Documentación oficial</a:t>
            </a:r>
            <a:endParaRPr lang="en-US" sz="1400" dirty="0"/>
          </a:p>
        </p:txBody>
      </p:sp>
      <p:sp>
        <p:nvSpPr>
          <p:cNvPr id="10" name="Text 8"/>
          <p:cNvSpPr/>
          <p:nvPr/>
        </p:nvSpPr>
        <p:spPr>
          <a:xfrm>
            <a:off x="1051560" y="4014216"/>
            <a:ext cx="9784080" cy="365760"/>
          </a:xfrm>
          <a:prstGeom prst="rect">
            <a:avLst/>
          </a:prstGeom>
          <a:noFill/>
          <a:ln/>
        </p:spPr>
        <p:txBody>
          <a:bodyPr wrap="square" lIns="0" tIns="0" rIns="0" bIns="0" rtlCol="0" anchor="ctr"/>
          <a:lstStyle/>
          <a:p>
            <a:pPr indent="0" marL="0">
              <a:buNone/>
            </a:pPr>
            <a:r>
              <a:rPr lang="en-US" sz="1250" dirty="0">
                <a:solidFill>
                  <a:srgbClr val="AAB4D9"/>
                </a:solidFill>
                <a:latin typeface="Calibri" pitchFamily="34" charset="0"/>
                <a:ea typeface="Calibri" pitchFamily="34" charset="-122"/>
                <a:cs typeface="Calibri" pitchFamily="34" charset="-120"/>
              </a:rPr>
              <a:t>GitHub Copilot Docs · Tabnine Privacy &amp; Compliance · AWS Amazon Q Developer</a:t>
            </a:r>
            <a:endParaRPr lang="en-US" sz="1250" dirty="0"/>
          </a:p>
        </p:txBody>
      </p:sp>
      <p:sp>
        <p:nvSpPr>
          <p:cNvPr id="11" name="Shape 9"/>
          <p:cNvSpPr/>
          <p:nvPr/>
        </p:nvSpPr>
        <p:spPr>
          <a:xfrm>
            <a:off x="731520" y="4562856"/>
            <a:ext cx="109728" cy="109728"/>
          </a:xfrm>
          <a:prstGeom prst="ellipse">
            <a:avLst/>
          </a:prstGeom>
          <a:solidFill>
            <a:srgbClr val="F2A65A"/>
          </a:solidFill>
          <a:ln/>
        </p:spPr>
      </p:sp>
      <p:sp>
        <p:nvSpPr>
          <p:cNvPr id="12" name="Text 10"/>
          <p:cNvSpPr/>
          <p:nvPr/>
        </p:nvSpPr>
        <p:spPr>
          <a:xfrm>
            <a:off x="1051560" y="4416552"/>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Opiniones de desarrolladores</a:t>
            </a:r>
            <a:endParaRPr lang="en-US" sz="1400" dirty="0"/>
          </a:p>
        </p:txBody>
      </p:sp>
      <p:sp>
        <p:nvSpPr>
          <p:cNvPr id="13" name="Text 11"/>
          <p:cNvSpPr/>
          <p:nvPr/>
        </p:nvSpPr>
        <p:spPr>
          <a:xfrm>
            <a:off x="1051560" y="4727448"/>
            <a:ext cx="9784080" cy="365760"/>
          </a:xfrm>
          <a:prstGeom prst="rect">
            <a:avLst/>
          </a:prstGeom>
          <a:noFill/>
          <a:ln/>
        </p:spPr>
        <p:txBody>
          <a:bodyPr wrap="square" lIns="0" tIns="0" rIns="0" bIns="0" rtlCol="0" anchor="ctr"/>
          <a:lstStyle/>
          <a:p>
            <a:pPr indent="0" marL="0">
              <a:buNone/>
            </a:pPr>
            <a:r>
              <a:rPr lang="en-US" sz="1250" dirty="0">
                <a:solidFill>
                  <a:srgbClr val="AAB4D9"/>
                </a:solidFill>
                <a:latin typeface="Calibri" pitchFamily="34" charset="0"/>
                <a:ea typeface="Calibri" pitchFamily="34" charset="-122"/>
                <a:cs typeface="Calibri" pitchFamily="34" charset="-120"/>
              </a:rPr>
              <a:t>Gartner Peer Insights y G2 — evaluaciones reales en entornos empresariales</a:t>
            </a:r>
            <a:endParaRPr lang="en-US" sz="1250" dirty="0"/>
          </a:p>
        </p:txBody>
      </p:sp>
      <p:sp>
        <p:nvSpPr>
          <p:cNvPr id="14" name="Shape 12"/>
          <p:cNvSpPr/>
          <p:nvPr/>
        </p:nvSpPr>
        <p:spPr>
          <a:xfrm>
            <a:off x="731520" y="5276088"/>
            <a:ext cx="109728" cy="109728"/>
          </a:xfrm>
          <a:prstGeom prst="ellipse">
            <a:avLst/>
          </a:prstGeom>
          <a:solidFill>
            <a:srgbClr val="F2A65A"/>
          </a:solidFill>
          <a:ln/>
        </p:spPr>
      </p:sp>
      <p:sp>
        <p:nvSpPr>
          <p:cNvPr id="15" name="Text 13"/>
          <p:cNvSpPr/>
          <p:nvPr/>
        </p:nvSpPr>
        <p:spPr>
          <a:xfrm>
            <a:off x="1051560" y="5129784"/>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Comparativas de rendimiento</a:t>
            </a:r>
            <a:endParaRPr lang="en-US" sz="1400" dirty="0"/>
          </a:p>
        </p:txBody>
      </p:sp>
      <p:sp>
        <p:nvSpPr>
          <p:cNvPr id="16" name="Text 14"/>
          <p:cNvSpPr/>
          <p:nvPr/>
        </p:nvSpPr>
        <p:spPr>
          <a:xfrm>
            <a:off x="1051560" y="5440680"/>
            <a:ext cx="9784080" cy="365760"/>
          </a:xfrm>
          <a:prstGeom prst="rect">
            <a:avLst/>
          </a:prstGeom>
          <a:noFill/>
          <a:ln/>
        </p:spPr>
        <p:txBody>
          <a:bodyPr wrap="square" lIns="0" tIns="0" rIns="0" bIns="0" rtlCol="0" anchor="ctr"/>
          <a:lstStyle/>
          <a:p>
            <a:pPr indent="0" marL="0">
              <a:buNone/>
            </a:pPr>
            <a:r>
              <a:rPr lang="en-US" sz="1250" dirty="0">
                <a:solidFill>
                  <a:srgbClr val="AAB4D9"/>
                </a:solidFill>
                <a:latin typeface="Calibri" pitchFamily="34" charset="0"/>
                <a:ea typeface="Calibri" pitchFamily="34" charset="-122"/>
                <a:cs typeface="Calibri" pitchFamily="34" charset="-120"/>
              </a:rPr>
              <a:t>Visual Studio Magazine — pruebas en vivo sobre proyectos C# / .NET</a:t>
            </a:r>
            <a:endParaRPr lang="en-US" sz="1250" dirty="0"/>
          </a:p>
        </p:txBody>
      </p:sp>
      <p:sp>
        <p:nvSpPr>
          <p:cNvPr id="17" name="Text 15"/>
          <p:cNvSpPr/>
          <p:nvPr/>
        </p:nvSpPr>
        <p:spPr>
          <a:xfrm>
            <a:off x="10085832" y="6446520"/>
            <a:ext cx="1828800" cy="274320"/>
          </a:xfrm>
          <a:prstGeom prst="rect">
            <a:avLst/>
          </a:prstGeom>
          <a:noFill/>
          <a:ln/>
        </p:spPr>
        <p:txBody>
          <a:bodyPr wrap="square" lIns="0" tIns="0" rIns="0" bIns="0" rtlCol="0" anchor="ctr"/>
          <a:lstStyle/>
          <a:p>
            <a:pPr algn="r" indent="0" marL="0">
              <a:buNone/>
            </a:pPr>
            <a:r>
              <a:rPr lang="en-US" sz="1000" dirty="0">
                <a:solidFill>
                  <a:srgbClr val="8891B0"/>
                </a:solidFill>
                <a:latin typeface="Calibri" pitchFamily="34" charset="0"/>
                <a:ea typeface="Calibri" pitchFamily="34" charset="-122"/>
                <a:cs typeface="Calibri" pitchFamily="34" charset="-120"/>
              </a:rPr>
              <a:t>6 · Conclusión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2026-08-11T21:35:35Z</dcterms:created>
  <dcterms:modified xsi:type="dcterms:W3CDTF">2026-08-11T21:35:35Z</dcterms:modified>
</cp:coreProperties>
</file>